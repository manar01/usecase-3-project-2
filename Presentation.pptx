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T Interphases Bold" charset="1" panose="02000803060000020004"/>
      <p:regular r:id="rId21"/>
    </p:embeddedFont>
    <p:embeddedFont>
      <p:font typeface="TT Interphases" charset="1" panose="0200050302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90960" y="3749235"/>
            <a:ext cx="5068340" cy="5509065"/>
          </a:xfrm>
          <a:custGeom>
            <a:avLst/>
            <a:gdLst/>
            <a:ahLst/>
            <a:cxnLst/>
            <a:rect r="r" b="b" t="t" l="l"/>
            <a:pathLst>
              <a:path h="5509065" w="5068340">
                <a:moveTo>
                  <a:pt x="0" y="0"/>
                </a:moveTo>
                <a:lnTo>
                  <a:pt x="5068340" y="0"/>
                </a:lnTo>
                <a:lnTo>
                  <a:pt x="5068340" y="5509065"/>
                </a:lnTo>
                <a:lnTo>
                  <a:pt x="0" y="55090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19315" y="3240748"/>
            <a:ext cx="9086505" cy="5204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6"/>
              </a:lnSpc>
            </a:pPr>
            <a:r>
              <a:rPr lang="en-US" b="true" sz="9004" spc="-441">
                <a:solidFill>
                  <a:srgbClr val="004AA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World University Rankings Analysis</a:t>
            </a:r>
          </a:p>
          <a:p>
            <a:pPr algn="ctr">
              <a:lnSpc>
                <a:spcPts val="7986"/>
              </a:lnSpc>
            </a:pPr>
            <a:r>
              <a:rPr lang="en-US" b="true" sz="5704" spc="-279">
                <a:solidFill>
                  <a:srgbClr val="3779E3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Usecase 3 </a:t>
            </a:r>
          </a:p>
          <a:p>
            <a:pPr algn="ctr">
              <a:lnSpc>
                <a:spcPts val="7986"/>
              </a:lnSpc>
            </a:pPr>
            <a:r>
              <a:rPr lang="en-US" b="true" sz="5704" spc="-279">
                <a:solidFill>
                  <a:srgbClr val="3779E3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(Project 2)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491520" y="1298651"/>
            <a:ext cx="1543050" cy="1543050"/>
          </a:xfrm>
          <a:custGeom>
            <a:avLst/>
            <a:gdLst/>
            <a:ahLst/>
            <a:cxnLst/>
            <a:rect r="r" b="b" t="t" l="l"/>
            <a:pathLst>
              <a:path h="1543050" w="1543050">
                <a:moveTo>
                  <a:pt x="0" y="0"/>
                </a:moveTo>
                <a:lnTo>
                  <a:pt x="1543050" y="0"/>
                </a:lnTo>
                <a:lnTo>
                  <a:pt x="154305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399602" y="1182095"/>
            <a:ext cx="1223851" cy="847795"/>
          </a:xfrm>
          <a:custGeom>
            <a:avLst/>
            <a:gdLst/>
            <a:ahLst/>
            <a:cxnLst/>
            <a:rect r="r" b="b" t="t" l="l"/>
            <a:pathLst>
              <a:path h="847795" w="1223851">
                <a:moveTo>
                  <a:pt x="1223850" y="0"/>
                </a:moveTo>
                <a:lnTo>
                  <a:pt x="0" y="0"/>
                </a:lnTo>
                <a:lnTo>
                  <a:pt x="0" y="847794"/>
                </a:lnTo>
                <a:lnTo>
                  <a:pt x="1223850" y="847794"/>
                </a:lnTo>
                <a:lnTo>
                  <a:pt x="122385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01659" y="844365"/>
            <a:ext cx="11973176" cy="178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6"/>
              </a:lnSpc>
            </a:pPr>
            <a:r>
              <a:rPr lang="en-US" sz="6800" spc="-33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Which universities are ranked in the top 10 </a:t>
            </a:r>
            <a:r>
              <a:rPr lang="en-US" b="true" sz="6800" spc="-333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globally</a:t>
            </a:r>
            <a:r>
              <a:rPr lang="en-US" sz="6800" spc="-33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35848" y="2948644"/>
            <a:ext cx="16623452" cy="7231202"/>
          </a:xfrm>
          <a:custGeom>
            <a:avLst/>
            <a:gdLst/>
            <a:ahLst/>
            <a:cxnLst/>
            <a:rect r="r" b="b" t="t" l="l"/>
            <a:pathLst>
              <a:path h="7231202" w="16623452">
                <a:moveTo>
                  <a:pt x="0" y="0"/>
                </a:moveTo>
                <a:lnTo>
                  <a:pt x="16623452" y="0"/>
                </a:lnTo>
                <a:lnTo>
                  <a:pt x="16623452" y="7231202"/>
                </a:lnTo>
                <a:lnTo>
                  <a:pt x="0" y="7231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06774" y="497799"/>
            <a:ext cx="4562946" cy="22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7"/>
              </a:lnSpc>
            </a:pPr>
            <a:r>
              <a:rPr lang="en-US" sz="1905" spc="-93">
                <a:solidFill>
                  <a:srgbClr val="FF313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Center for World University Rankings 2022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399602" y="1182095"/>
            <a:ext cx="1223851" cy="847795"/>
          </a:xfrm>
          <a:custGeom>
            <a:avLst/>
            <a:gdLst/>
            <a:ahLst/>
            <a:cxnLst/>
            <a:rect r="r" b="b" t="t" l="l"/>
            <a:pathLst>
              <a:path h="847795" w="1223851">
                <a:moveTo>
                  <a:pt x="1223850" y="0"/>
                </a:moveTo>
                <a:lnTo>
                  <a:pt x="0" y="0"/>
                </a:lnTo>
                <a:lnTo>
                  <a:pt x="0" y="847794"/>
                </a:lnTo>
                <a:lnTo>
                  <a:pt x="1223850" y="847794"/>
                </a:lnTo>
                <a:lnTo>
                  <a:pt x="122385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7119" y="2611612"/>
            <a:ext cx="17493762" cy="7675388"/>
          </a:xfrm>
          <a:custGeom>
            <a:avLst/>
            <a:gdLst/>
            <a:ahLst/>
            <a:cxnLst/>
            <a:rect r="r" b="b" t="t" l="l"/>
            <a:pathLst>
              <a:path h="7675388" w="17493762">
                <a:moveTo>
                  <a:pt x="0" y="0"/>
                </a:moveTo>
                <a:lnTo>
                  <a:pt x="17493762" y="0"/>
                </a:lnTo>
                <a:lnTo>
                  <a:pt x="17493762" y="7675388"/>
                </a:lnTo>
                <a:lnTo>
                  <a:pt x="0" y="7675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60216" y="720540"/>
            <a:ext cx="11973176" cy="1914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7"/>
              </a:lnSpc>
            </a:pPr>
            <a:r>
              <a:rPr lang="en-US" sz="6700" spc="-32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Which universities are ranked in the top 10 </a:t>
            </a:r>
            <a:r>
              <a:rPr lang="en-US" b="true" sz="6700" spc="-328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globally</a:t>
            </a:r>
            <a:r>
              <a:rPr lang="en-US" sz="6700" spc="-32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06774" y="497799"/>
            <a:ext cx="5607553" cy="22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7"/>
              </a:lnSpc>
            </a:pPr>
            <a:r>
              <a:rPr lang="en-US" sz="1905" spc="-93">
                <a:solidFill>
                  <a:srgbClr val="FF313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Times Higher Education World University Ranking 2022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399602" y="1182095"/>
            <a:ext cx="1223851" cy="847795"/>
          </a:xfrm>
          <a:custGeom>
            <a:avLst/>
            <a:gdLst/>
            <a:ahLst/>
            <a:cxnLst/>
            <a:rect r="r" b="b" t="t" l="l"/>
            <a:pathLst>
              <a:path h="847795" w="1223851">
                <a:moveTo>
                  <a:pt x="1223850" y="0"/>
                </a:moveTo>
                <a:lnTo>
                  <a:pt x="0" y="0"/>
                </a:lnTo>
                <a:lnTo>
                  <a:pt x="0" y="847794"/>
                </a:lnTo>
                <a:lnTo>
                  <a:pt x="1223850" y="847794"/>
                </a:lnTo>
                <a:lnTo>
                  <a:pt x="122385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4779" y="2816162"/>
            <a:ext cx="17578442" cy="7470838"/>
          </a:xfrm>
          <a:custGeom>
            <a:avLst/>
            <a:gdLst/>
            <a:ahLst/>
            <a:cxnLst/>
            <a:rect r="r" b="b" t="t" l="l"/>
            <a:pathLst>
              <a:path h="7470838" w="17578442">
                <a:moveTo>
                  <a:pt x="0" y="0"/>
                </a:moveTo>
                <a:lnTo>
                  <a:pt x="17578442" y="0"/>
                </a:lnTo>
                <a:lnTo>
                  <a:pt x="17578442" y="7470838"/>
                </a:lnTo>
                <a:lnTo>
                  <a:pt x="0" y="74708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01659" y="815790"/>
            <a:ext cx="11973176" cy="186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6"/>
              </a:lnSpc>
            </a:pPr>
            <a:r>
              <a:rPr lang="en-US" sz="6800" spc="-33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Which universities are ranked in the top 10 </a:t>
            </a:r>
            <a:r>
              <a:rPr lang="en-US" b="true" sz="6800" spc="-333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globally</a:t>
            </a:r>
            <a:r>
              <a:rPr lang="en-US" sz="6800" spc="-33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06774" y="497799"/>
            <a:ext cx="4562946" cy="22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7"/>
              </a:lnSpc>
            </a:pPr>
            <a:r>
              <a:rPr lang="en-US" sz="1905" spc="-93">
                <a:solidFill>
                  <a:srgbClr val="FF313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Shanghai Ranking Dataset 2022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12617" y="1028700"/>
            <a:ext cx="493366" cy="1728354"/>
          </a:xfrm>
          <a:custGeom>
            <a:avLst/>
            <a:gdLst/>
            <a:ahLst/>
            <a:cxnLst/>
            <a:rect r="r" b="b" t="t" l="l"/>
            <a:pathLst>
              <a:path h="1728354" w="493366">
                <a:moveTo>
                  <a:pt x="0" y="0"/>
                </a:moveTo>
                <a:lnTo>
                  <a:pt x="493366" y="0"/>
                </a:lnTo>
                <a:lnTo>
                  <a:pt x="493366" y="1728354"/>
                </a:lnTo>
                <a:lnTo>
                  <a:pt x="0" y="1728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8214" y="2843405"/>
            <a:ext cx="15551231" cy="7367395"/>
          </a:xfrm>
          <a:custGeom>
            <a:avLst/>
            <a:gdLst/>
            <a:ahLst/>
            <a:cxnLst/>
            <a:rect r="r" b="b" t="t" l="l"/>
            <a:pathLst>
              <a:path h="7367395" w="15551231">
                <a:moveTo>
                  <a:pt x="0" y="0"/>
                </a:moveTo>
                <a:lnTo>
                  <a:pt x="15551231" y="0"/>
                </a:lnTo>
                <a:lnTo>
                  <a:pt x="15551231" y="7367395"/>
                </a:lnTo>
                <a:lnTo>
                  <a:pt x="0" y="7367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25847" y="956950"/>
            <a:ext cx="14256587" cy="1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1"/>
              </a:lnSpc>
            </a:pPr>
            <a:r>
              <a:rPr lang="en-US" sz="6300" spc="-30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Which universities are ranked in the top </a:t>
            </a:r>
            <a:r>
              <a:rPr lang="en-US" b="true" sz="6300" spc="-308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10</a:t>
            </a:r>
            <a:r>
              <a:rPr lang="en-US" sz="6300" spc="-30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for </a:t>
            </a:r>
            <a:r>
              <a:rPr lang="en-US" sz="6300" spc="-308">
                <a:solidFill>
                  <a:srgbClr val="004AA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employment outcomes</a:t>
            </a:r>
            <a:r>
              <a:rPr lang="en-US" sz="6300" spc="-30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72667" y="565925"/>
            <a:ext cx="4562946" cy="22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7"/>
              </a:lnSpc>
            </a:pPr>
            <a:r>
              <a:rPr lang="en-US" sz="1905" spc="-93">
                <a:solidFill>
                  <a:srgbClr val="FF313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Center for World University Rankings 2022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7265" y="498574"/>
            <a:ext cx="361435" cy="361435"/>
          </a:xfrm>
          <a:custGeom>
            <a:avLst/>
            <a:gdLst/>
            <a:ahLst/>
            <a:cxnLst/>
            <a:rect r="r" b="b" t="t" l="l"/>
            <a:pathLst>
              <a:path h="361435" w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7345025" y="292901"/>
            <a:ext cx="436681" cy="339023"/>
          </a:xfrm>
          <a:custGeom>
            <a:avLst/>
            <a:gdLst/>
            <a:ahLst/>
            <a:cxnLst/>
            <a:rect r="r" b="b" t="t" l="l"/>
            <a:pathLst>
              <a:path h="339023" w="436681">
                <a:moveTo>
                  <a:pt x="436681" y="339023"/>
                </a:moveTo>
                <a:lnTo>
                  <a:pt x="0" y="339023"/>
                </a:lnTo>
                <a:lnTo>
                  <a:pt x="0" y="0"/>
                </a:lnTo>
                <a:lnTo>
                  <a:pt x="436681" y="0"/>
                </a:lnTo>
                <a:lnTo>
                  <a:pt x="436681" y="3390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0085" y="2985723"/>
            <a:ext cx="15829327" cy="7301277"/>
          </a:xfrm>
          <a:custGeom>
            <a:avLst/>
            <a:gdLst/>
            <a:ahLst/>
            <a:cxnLst/>
            <a:rect r="r" b="b" t="t" l="l"/>
            <a:pathLst>
              <a:path h="7301277" w="15829327">
                <a:moveTo>
                  <a:pt x="0" y="0"/>
                </a:moveTo>
                <a:lnTo>
                  <a:pt x="15829327" y="0"/>
                </a:lnTo>
                <a:lnTo>
                  <a:pt x="15829327" y="7301277"/>
                </a:lnTo>
                <a:lnTo>
                  <a:pt x="0" y="73012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18588" y="821909"/>
            <a:ext cx="15650824" cy="199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8"/>
              </a:lnSpc>
            </a:pPr>
            <a:r>
              <a:rPr lang="en-US" sz="6800" spc="-333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What positions do universities in </a:t>
            </a:r>
            <a:r>
              <a:rPr lang="en-US" b="true" sz="6800" spc="-333">
                <a:solidFill>
                  <a:srgbClr val="12121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Saudi Arabia</a:t>
            </a:r>
            <a:r>
              <a:rPr lang="en-US" sz="6800" spc="-333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hold within the global rankings?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82607" y="553891"/>
            <a:ext cx="4562946" cy="22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7"/>
              </a:lnSpc>
            </a:pPr>
            <a:r>
              <a:rPr lang="en-US" sz="1905" spc="-93">
                <a:solidFill>
                  <a:srgbClr val="FF313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Center for World University Rankings 2022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7265" y="498574"/>
            <a:ext cx="361435" cy="361435"/>
          </a:xfrm>
          <a:custGeom>
            <a:avLst/>
            <a:gdLst/>
            <a:ahLst/>
            <a:cxnLst/>
            <a:rect r="r" b="b" t="t" l="l"/>
            <a:pathLst>
              <a:path h="361435" w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7345025" y="292901"/>
            <a:ext cx="436681" cy="339023"/>
          </a:xfrm>
          <a:custGeom>
            <a:avLst/>
            <a:gdLst/>
            <a:ahLst/>
            <a:cxnLst/>
            <a:rect r="r" b="b" t="t" l="l"/>
            <a:pathLst>
              <a:path h="339023" w="436681">
                <a:moveTo>
                  <a:pt x="436681" y="339023"/>
                </a:moveTo>
                <a:lnTo>
                  <a:pt x="0" y="339023"/>
                </a:lnTo>
                <a:lnTo>
                  <a:pt x="0" y="0"/>
                </a:lnTo>
                <a:lnTo>
                  <a:pt x="436681" y="0"/>
                </a:lnTo>
                <a:lnTo>
                  <a:pt x="436681" y="3390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79529" y="2980530"/>
            <a:ext cx="12328942" cy="7150786"/>
          </a:xfrm>
          <a:custGeom>
            <a:avLst/>
            <a:gdLst/>
            <a:ahLst/>
            <a:cxnLst/>
            <a:rect r="r" b="b" t="t" l="l"/>
            <a:pathLst>
              <a:path h="7150786" w="12328942">
                <a:moveTo>
                  <a:pt x="0" y="0"/>
                </a:moveTo>
                <a:lnTo>
                  <a:pt x="12328942" y="0"/>
                </a:lnTo>
                <a:lnTo>
                  <a:pt x="12328942" y="7150786"/>
                </a:lnTo>
                <a:lnTo>
                  <a:pt x="0" y="71507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18588" y="860009"/>
            <a:ext cx="15650824" cy="199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8"/>
              </a:lnSpc>
            </a:pPr>
            <a:r>
              <a:rPr lang="en-US" sz="6800" spc="-333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What positions do universities in </a:t>
            </a:r>
            <a:r>
              <a:rPr lang="en-US" b="true" sz="6800" spc="-333">
                <a:solidFill>
                  <a:srgbClr val="12121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Saudi Arabia</a:t>
            </a:r>
            <a:r>
              <a:rPr lang="en-US" sz="6800" spc="-333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hold within the global rankings?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35254" y="409964"/>
            <a:ext cx="5607553" cy="22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7"/>
              </a:lnSpc>
            </a:pPr>
            <a:r>
              <a:rPr lang="en-US" sz="1905" spc="-93">
                <a:solidFill>
                  <a:srgbClr val="FF313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Times Higher Education World University Ranking 2022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5686" y="633700"/>
            <a:ext cx="395000" cy="395000"/>
          </a:xfrm>
          <a:custGeom>
            <a:avLst/>
            <a:gdLst/>
            <a:ahLst/>
            <a:cxnLst/>
            <a:rect r="r" b="b" t="t" l="l"/>
            <a:pathLst>
              <a:path h="395000" w="395000">
                <a:moveTo>
                  <a:pt x="0" y="0"/>
                </a:moveTo>
                <a:lnTo>
                  <a:pt x="395000" y="0"/>
                </a:lnTo>
                <a:lnTo>
                  <a:pt x="395000" y="395000"/>
                </a:lnTo>
                <a:lnTo>
                  <a:pt x="0" y="39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62269" y="2248547"/>
            <a:ext cx="9787078" cy="8038453"/>
          </a:xfrm>
          <a:custGeom>
            <a:avLst/>
            <a:gdLst/>
            <a:ahLst/>
            <a:cxnLst/>
            <a:rect r="r" b="b" t="t" l="l"/>
            <a:pathLst>
              <a:path h="8038453" w="9787078">
                <a:moveTo>
                  <a:pt x="0" y="0"/>
                </a:moveTo>
                <a:lnTo>
                  <a:pt x="9787078" y="0"/>
                </a:lnTo>
                <a:lnTo>
                  <a:pt x="9787078" y="8038453"/>
                </a:lnTo>
                <a:lnTo>
                  <a:pt x="0" y="8038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10411" y="494092"/>
            <a:ext cx="15090793" cy="213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4"/>
              </a:lnSpc>
            </a:pPr>
            <a:r>
              <a:rPr lang="en-US" sz="3676" spc="-180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Considering various factors such as employment rankings, </a:t>
            </a:r>
          </a:p>
          <a:p>
            <a:pPr algn="ctr">
              <a:lnSpc>
                <a:spcPts val="4264"/>
              </a:lnSpc>
            </a:pPr>
            <a:r>
              <a:rPr lang="en-US" sz="3676" spc="-180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research rankings, and others, </a:t>
            </a:r>
            <a:r>
              <a:rPr lang="en-US" sz="3676" spc="-180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which has the </a:t>
            </a:r>
            <a:r>
              <a:rPr lang="en-US" b="true" sz="3676" spc="-180">
                <a:solidFill>
                  <a:srgbClr val="12121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most significant impact</a:t>
            </a:r>
            <a:r>
              <a:rPr lang="en-US" sz="3676" spc="-180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on a university's overall ranking?</a:t>
            </a:r>
          </a:p>
          <a:p>
            <a:pPr algn="ctr">
              <a:lnSpc>
                <a:spcPts val="426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862527" y="252301"/>
            <a:ext cx="4562946" cy="22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7"/>
              </a:lnSpc>
            </a:pPr>
            <a:r>
              <a:rPr lang="en-US" sz="1905" spc="-93">
                <a:solidFill>
                  <a:srgbClr val="FF313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Center for World University Rankings 2022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319" y="594605"/>
            <a:ext cx="361435" cy="361435"/>
          </a:xfrm>
          <a:custGeom>
            <a:avLst/>
            <a:gdLst/>
            <a:ahLst/>
            <a:cxnLst/>
            <a:rect r="r" b="b" t="t" l="l"/>
            <a:pathLst>
              <a:path h="361435" w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32337" y="2534462"/>
            <a:ext cx="14423327" cy="7752538"/>
          </a:xfrm>
          <a:custGeom>
            <a:avLst/>
            <a:gdLst/>
            <a:ahLst/>
            <a:cxnLst/>
            <a:rect r="r" b="b" t="t" l="l"/>
            <a:pathLst>
              <a:path h="7752538" w="14423327">
                <a:moveTo>
                  <a:pt x="0" y="0"/>
                </a:moveTo>
                <a:lnTo>
                  <a:pt x="14423326" y="0"/>
                </a:lnTo>
                <a:lnTo>
                  <a:pt x="14423326" y="7752538"/>
                </a:lnTo>
                <a:lnTo>
                  <a:pt x="0" y="77525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98603" y="585080"/>
            <a:ext cx="15090793" cy="2450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4"/>
              </a:lnSpc>
            </a:pPr>
            <a:r>
              <a:rPr lang="en-US" sz="4176" spc="-204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4176" spc="-204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Is there a </a:t>
            </a:r>
            <a:r>
              <a:rPr lang="en-US" b="true" sz="4176" spc="-204">
                <a:solidFill>
                  <a:srgbClr val="12121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correlation </a:t>
            </a:r>
            <a:r>
              <a:rPr lang="en-US" sz="4176" spc="-204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between national and global university rankings, and based on this information, can you recommend a country that appears to have a </a:t>
            </a:r>
            <a:r>
              <a:rPr lang="en-US" b="true" sz="4176" spc="-204">
                <a:solidFill>
                  <a:srgbClr val="12121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high concentration of top-ranked universities</a:t>
            </a:r>
            <a:r>
              <a:rPr lang="en-US" sz="4176" spc="-204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?</a:t>
            </a:r>
          </a:p>
          <a:p>
            <a:pPr algn="ctr">
              <a:lnSpc>
                <a:spcPts val="484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862527" y="371864"/>
            <a:ext cx="4562946" cy="22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7"/>
              </a:lnSpc>
            </a:pPr>
            <a:r>
              <a:rPr lang="en-US" sz="1905" spc="-93">
                <a:solidFill>
                  <a:srgbClr val="FF313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Center for World University Rankings 2022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319" y="594605"/>
            <a:ext cx="361435" cy="361435"/>
          </a:xfrm>
          <a:custGeom>
            <a:avLst/>
            <a:gdLst/>
            <a:ahLst/>
            <a:cxnLst/>
            <a:rect r="r" b="b" t="t" l="l"/>
            <a:pathLst>
              <a:path h="361435" w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13310" y="2658701"/>
            <a:ext cx="14061380" cy="7628299"/>
          </a:xfrm>
          <a:custGeom>
            <a:avLst/>
            <a:gdLst/>
            <a:ahLst/>
            <a:cxnLst/>
            <a:rect r="r" b="b" t="t" l="l"/>
            <a:pathLst>
              <a:path h="7628299" w="14061380">
                <a:moveTo>
                  <a:pt x="0" y="0"/>
                </a:moveTo>
                <a:lnTo>
                  <a:pt x="14061380" y="0"/>
                </a:lnTo>
                <a:lnTo>
                  <a:pt x="14061380" y="7628299"/>
                </a:lnTo>
                <a:lnTo>
                  <a:pt x="0" y="76282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98603" y="585080"/>
            <a:ext cx="15090793" cy="2450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4"/>
              </a:lnSpc>
            </a:pPr>
            <a:r>
              <a:rPr lang="en-US" sz="4176" spc="-204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4176" spc="-204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Is there a </a:t>
            </a:r>
            <a:r>
              <a:rPr lang="en-US" b="true" sz="4176" spc="-204">
                <a:solidFill>
                  <a:srgbClr val="12121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correlation </a:t>
            </a:r>
            <a:r>
              <a:rPr lang="en-US" sz="4176" spc="-204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between national and global university rankings, and based on this information, can you recommend a country that appears to have a </a:t>
            </a:r>
            <a:r>
              <a:rPr lang="en-US" b="true" sz="4176" spc="-204">
                <a:solidFill>
                  <a:srgbClr val="12121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high concentration of top-ranked universities</a:t>
            </a:r>
            <a:r>
              <a:rPr lang="en-US" sz="4176" spc="-204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?</a:t>
            </a:r>
          </a:p>
          <a:p>
            <a:pPr algn="ctr">
              <a:lnSpc>
                <a:spcPts val="484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862527" y="352814"/>
            <a:ext cx="4562946" cy="22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7"/>
              </a:lnSpc>
            </a:pPr>
            <a:r>
              <a:rPr lang="en-US" sz="1905" spc="-93">
                <a:solidFill>
                  <a:srgbClr val="FF313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Shanghai Ranking Dataset 2022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319" y="594605"/>
            <a:ext cx="361435" cy="361435"/>
          </a:xfrm>
          <a:custGeom>
            <a:avLst/>
            <a:gdLst/>
            <a:ahLst/>
            <a:cxnLst/>
            <a:rect r="r" b="b" t="t" l="l"/>
            <a:pathLst>
              <a:path h="361435" w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23587" y="2534549"/>
            <a:ext cx="12240826" cy="7752451"/>
          </a:xfrm>
          <a:custGeom>
            <a:avLst/>
            <a:gdLst/>
            <a:ahLst/>
            <a:cxnLst/>
            <a:rect r="r" b="b" t="t" l="l"/>
            <a:pathLst>
              <a:path h="7752451" w="12240826">
                <a:moveTo>
                  <a:pt x="0" y="0"/>
                </a:moveTo>
                <a:lnTo>
                  <a:pt x="12240826" y="0"/>
                </a:lnTo>
                <a:lnTo>
                  <a:pt x="12240826" y="7752451"/>
                </a:lnTo>
                <a:lnTo>
                  <a:pt x="0" y="77524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81" t="0" r="-1281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98603" y="651755"/>
            <a:ext cx="15090793" cy="252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0"/>
              </a:lnSpc>
            </a:pPr>
            <a:r>
              <a:rPr lang="en-US" sz="4276" spc="-209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4276" spc="-209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Is there a </a:t>
            </a:r>
            <a:r>
              <a:rPr lang="en-US" b="true" sz="4276" spc="-209">
                <a:solidFill>
                  <a:srgbClr val="12121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correlation </a:t>
            </a:r>
            <a:r>
              <a:rPr lang="en-US" sz="4276" spc="-209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between national and global university rankings, and based on this information, can you recommend a country that appears to have a </a:t>
            </a:r>
            <a:r>
              <a:rPr lang="en-US" b="true" sz="4276" spc="-209">
                <a:solidFill>
                  <a:srgbClr val="12121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high concentration of top-ranked universities</a:t>
            </a:r>
            <a:r>
              <a:rPr lang="en-US" sz="4276" spc="-209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?</a:t>
            </a:r>
          </a:p>
          <a:p>
            <a:pPr algn="ctr">
              <a:lnSpc>
                <a:spcPts val="496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574335" y="347551"/>
            <a:ext cx="4562946" cy="22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7"/>
              </a:lnSpc>
            </a:pPr>
            <a:r>
              <a:rPr lang="en-US" sz="1905" spc="-93">
                <a:solidFill>
                  <a:srgbClr val="FF313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Center for World University Rankings 2022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3207" y="743207"/>
            <a:ext cx="361435" cy="361435"/>
          </a:xfrm>
          <a:custGeom>
            <a:avLst/>
            <a:gdLst/>
            <a:ahLst/>
            <a:cxnLst/>
            <a:rect r="r" b="b" t="t" l="l"/>
            <a:pathLst>
              <a:path h="361435" w="361435">
                <a:moveTo>
                  <a:pt x="0" y="0"/>
                </a:moveTo>
                <a:lnTo>
                  <a:pt x="361436" y="0"/>
                </a:lnTo>
                <a:lnTo>
                  <a:pt x="361436" y="361436"/>
                </a:lnTo>
                <a:lnTo>
                  <a:pt x="0" y="361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04795" y="2554718"/>
            <a:ext cx="11694228" cy="7732282"/>
          </a:xfrm>
          <a:custGeom>
            <a:avLst/>
            <a:gdLst/>
            <a:ahLst/>
            <a:cxnLst/>
            <a:rect r="r" b="b" t="t" l="l"/>
            <a:pathLst>
              <a:path h="7732282" w="11694228">
                <a:moveTo>
                  <a:pt x="0" y="0"/>
                </a:moveTo>
                <a:lnTo>
                  <a:pt x="11694227" y="0"/>
                </a:lnTo>
                <a:lnTo>
                  <a:pt x="11694227" y="7732282"/>
                </a:lnTo>
                <a:lnTo>
                  <a:pt x="0" y="7732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7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03158" y="613655"/>
            <a:ext cx="15090793" cy="224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6"/>
              </a:lnSpc>
            </a:pPr>
            <a:r>
              <a:rPr lang="en-US" sz="3876" spc="-189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3876" spc="-189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Is there a </a:t>
            </a:r>
            <a:r>
              <a:rPr lang="en-US" b="true" sz="3876" spc="-189">
                <a:solidFill>
                  <a:srgbClr val="12121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correlation </a:t>
            </a:r>
            <a:r>
              <a:rPr lang="en-US" sz="3876" spc="-189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between national and global university rankings, and based on this information, can you recommend a country that appears to have a </a:t>
            </a:r>
            <a:r>
              <a:rPr lang="en-US" b="true" sz="3876" spc="-189">
                <a:solidFill>
                  <a:srgbClr val="12121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high concentration of top-ranked universities</a:t>
            </a:r>
            <a:r>
              <a:rPr lang="en-US" sz="3876" spc="-189">
                <a:solidFill>
                  <a:srgbClr val="12121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?</a:t>
            </a:r>
          </a:p>
          <a:p>
            <a:pPr algn="ctr">
              <a:lnSpc>
                <a:spcPts val="449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235254" y="267089"/>
            <a:ext cx="5607553" cy="22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7"/>
              </a:lnSpc>
            </a:pPr>
            <a:r>
              <a:rPr lang="en-US" sz="1905" spc="-93">
                <a:solidFill>
                  <a:srgbClr val="FF313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Times Higher Education World University Ranking 2022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319" y="594605"/>
            <a:ext cx="361435" cy="361435"/>
          </a:xfrm>
          <a:custGeom>
            <a:avLst/>
            <a:gdLst/>
            <a:ahLst/>
            <a:cxnLst/>
            <a:rect r="r" b="b" t="t" l="l"/>
            <a:pathLst>
              <a:path h="361435" w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2249" y="1529088"/>
            <a:ext cx="16923502" cy="8757912"/>
          </a:xfrm>
          <a:custGeom>
            <a:avLst/>
            <a:gdLst/>
            <a:ahLst/>
            <a:cxnLst/>
            <a:rect r="r" b="b" t="t" l="l"/>
            <a:pathLst>
              <a:path h="8757912" w="16923502">
                <a:moveTo>
                  <a:pt x="0" y="0"/>
                </a:moveTo>
                <a:lnTo>
                  <a:pt x="16923502" y="0"/>
                </a:lnTo>
                <a:lnTo>
                  <a:pt x="16923502" y="8757912"/>
                </a:lnTo>
                <a:lnTo>
                  <a:pt x="0" y="87579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93633" y="642230"/>
            <a:ext cx="15090793" cy="71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0"/>
              </a:lnSpc>
            </a:pPr>
            <a:r>
              <a:rPr lang="en-US" b="true" sz="4776" spc="-234">
                <a:solidFill>
                  <a:srgbClr val="004AA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Our extra insights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35254" y="324239"/>
            <a:ext cx="5607553" cy="22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7"/>
              </a:lnSpc>
            </a:pPr>
            <a:r>
              <a:rPr lang="en-US" sz="1905" spc="-93">
                <a:solidFill>
                  <a:srgbClr val="FF313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Times Higher Education World University Ranking 2022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319" y="594605"/>
            <a:ext cx="361435" cy="361435"/>
          </a:xfrm>
          <a:custGeom>
            <a:avLst/>
            <a:gdLst/>
            <a:ahLst/>
            <a:cxnLst/>
            <a:rect r="r" b="b" t="t" l="l"/>
            <a:pathLst>
              <a:path h="361435" w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74222" y="1438019"/>
            <a:ext cx="11529617" cy="8848981"/>
          </a:xfrm>
          <a:custGeom>
            <a:avLst/>
            <a:gdLst/>
            <a:ahLst/>
            <a:cxnLst/>
            <a:rect r="r" b="b" t="t" l="l"/>
            <a:pathLst>
              <a:path h="8848981" w="11529617">
                <a:moveTo>
                  <a:pt x="0" y="0"/>
                </a:moveTo>
                <a:lnTo>
                  <a:pt x="11529616" y="0"/>
                </a:lnTo>
                <a:lnTo>
                  <a:pt x="11529616" y="8848981"/>
                </a:lnTo>
                <a:lnTo>
                  <a:pt x="0" y="88489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93633" y="642230"/>
            <a:ext cx="15090793" cy="71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0"/>
              </a:lnSpc>
            </a:pPr>
            <a:r>
              <a:rPr lang="en-US" b="true" sz="4776" spc="-234">
                <a:solidFill>
                  <a:srgbClr val="004AA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Our extra insights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35254" y="324239"/>
            <a:ext cx="5607553" cy="22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7"/>
              </a:lnSpc>
            </a:pPr>
            <a:r>
              <a:rPr lang="en-US" sz="1905" spc="-93">
                <a:solidFill>
                  <a:srgbClr val="FF313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Times Higher Education World University Ranking 2022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61435" cy="361435"/>
          </a:xfrm>
          <a:custGeom>
            <a:avLst/>
            <a:gdLst/>
            <a:ahLst/>
            <a:cxnLst/>
            <a:rect r="r" b="b" t="t" l="l"/>
            <a:pathLst>
              <a:path h="361435" w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37117" y="5250743"/>
            <a:ext cx="4022183" cy="4007557"/>
          </a:xfrm>
          <a:custGeom>
            <a:avLst/>
            <a:gdLst/>
            <a:ahLst/>
            <a:cxnLst/>
            <a:rect r="r" b="b" t="t" l="l"/>
            <a:pathLst>
              <a:path h="4007557" w="4022183">
                <a:moveTo>
                  <a:pt x="0" y="0"/>
                </a:moveTo>
                <a:lnTo>
                  <a:pt x="4022183" y="0"/>
                </a:lnTo>
                <a:lnTo>
                  <a:pt x="4022183" y="4007557"/>
                </a:lnTo>
                <a:lnTo>
                  <a:pt x="0" y="4007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7718033"/>
            <a:ext cx="228600" cy="2286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4986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7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267219" y="4000357"/>
            <a:ext cx="8332616" cy="174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24"/>
              </a:lnSpc>
            </a:pPr>
            <a:r>
              <a:rPr lang="en-US" sz="14395" spc="-70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Thank You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8373867"/>
            <a:ext cx="228600" cy="2286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79E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9029700"/>
            <a:ext cx="228600" cy="2286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984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060808"/>
            <a:ext cx="228600" cy="22860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7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17837" y="6895538"/>
            <a:ext cx="2879614" cy="50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4"/>
              </a:lnSpc>
              <a:spcBef>
                <a:spcPct val="0"/>
              </a:spcBef>
            </a:pPr>
            <a:r>
              <a:rPr lang="en-US" sz="2974" spc="-1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Jumanah Alqurashi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7837" y="7573125"/>
            <a:ext cx="3764012" cy="1029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4"/>
              </a:lnSpc>
            </a:pPr>
            <a:r>
              <a:rPr lang="en-US" sz="2974" spc="-1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Manar AlShaykh (Leader)</a:t>
            </a:r>
          </a:p>
          <a:p>
            <a:pPr algn="ctr">
              <a:lnSpc>
                <a:spcPts val="4164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417837" y="8209318"/>
            <a:ext cx="2330175" cy="50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4"/>
              </a:lnSpc>
              <a:spcBef>
                <a:spcPct val="0"/>
              </a:spcBef>
            </a:pPr>
            <a:r>
              <a:rPr lang="en-US" sz="2974" spc="-1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Meshal Alsanari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6159" y="8864430"/>
            <a:ext cx="2274419" cy="50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4"/>
              </a:lnSpc>
              <a:spcBef>
                <a:spcPct val="0"/>
              </a:spcBef>
            </a:pPr>
            <a:r>
              <a:rPr lang="en-US" sz="2974" spc="-14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Zaid Alkhathlan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7837" y="907913"/>
            <a:ext cx="2560141" cy="1029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4"/>
              </a:lnSpc>
            </a:pPr>
            <a:r>
              <a:rPr lang="en-US" b="true" sz="2974" spc="-145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Team Members</a:t>
            </a:r>
          </a:p>
          <a:p>
            <a:pPr algn="ctr">
              <a:lnSpc>
                <a:spcPts val="416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DAGe6xxSnKs</dc:identifier>
  <dcterms:modified xsi:type="dcterms:W3CDTF">2011-08-01T06:04:30Z</dcterms:modified>
  <cp:revision>1</cp:revision>
  <dc:title>Green and White Simple Illustrative Data Analytics Presentation</dc:title>
</cp:coreProperties>
</file>